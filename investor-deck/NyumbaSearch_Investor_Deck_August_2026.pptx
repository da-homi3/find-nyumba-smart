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(USD M)</c:v>
                </c:pt>
              </c:strCache>
            </c:strRef>
          </c:tx>
          <c:spPr>
            <a:solidFill>
              <a:srgbClr val="1999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0.35</c:v>
                </c:pt>
                <c:pt idx="1">
                  <c:v>0.9</c:v>
                </c:pt>
                <c:pt idx="2">
                  <c:v>1.9</c:v>
                </c:pt>
                <c:pt idx="3">
                  <c:v>3.2</c:v>
                </c:pt>
                <c:pt idx="4">
                  <c:v>4.8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Year 5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8192B"/>
              </a:solidFill>
              <a:effectLst/>
            </c:spPr>
          </c:dPt>
          <c:dPt>
            <c:idx val="1"/>
            <c:bubble3D val="0"/>
            <c:spPr>
              <a:solidFill>
                <a:srgbClr val="19995C"/>
              </a:solidFill>
              <a:effectLst/>
            </c:spPr>
          </c:dPt>
          <c:dPt>
            <c:idx val="2"/>
            <c:bubble3D val="0"/>
            <c:spPr>
              <a:solidFill>
                <a:srgbClr val="3AB570"/>
              </a:solidFill>
              <a:effectLst/>
            </c:spPr>
          </c:dPt>
          <c:dPt>
            <c:idx val="3"/>
            <c:bubble3D val="0"/>
            <c:spPr>
              <a:solidFill>
                <a:srgbClr val="E0AA3E"/>
              </a:solidFill>
              <a:effectLst/>
            </c:spPr>
          </c:dPt>
          <c:dPt>
            <c:idx val="4"/>
            <c:bubble3D val="0"/>
            <c:spPr>
              <a:solidFill>
                <a:srgbClr val="5B6C7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Property mgmt SaaS</c:v>
                </c:pt>
                <c:pt idx="1">
                  <c:v>Landlord &amp; listing</c:v>
                </c:pt>
                <c:pt idx="2">
                  <c:v>Service providers</c:v>
                </c:pt>
                <c:pt idx="3">
                  <c:v>Financial / referrals</c:v>
                </c:pt>
                <c:pt idx="4">
                  <c:v>Data / ads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9995C"/>
              </a:solidFill>
              <a:effectLst/>
            </c:spPr>
          </c:dPt>
          <c:dPt>
            <c:idx val="1"/>
            <c:bubble3D val="0"/>
            <c:spPr>
              <a:solidFill>
                <a:srgbClr val="3AB570"/>
              </a:solidFill>
              <a:effectLst/>
            </c:spPr>
          </c:dPt>
          <c:dPt>
            <c:idx val="2"/>
            <c:bubble3D val="0"/>
            <c:spPr>
              <a:solidFill>
                <a:srgbClr val="E0AA3E"/>
              </a:solidFill>
              <a:effectLst/>
            </c:spPr>
          </c:dPt>
          <c:dPt>
            <c:idx val="3"/>
            <c:bubble3D val="0"/>
            <c:spPr>
              <a:solidFill>
                <a:srgbClr val="0F2A44"/>
              </a:solidFill>
              <a:effectLst/>
            </c:spPr>
          </c:dPt>
          <c:dPt>
            <c:idx val="4"/>
            <c:bubble3D val="0"/>
            <c:spPr>
              <a:solidFill>
                <a:srgbClr val="91D64D"/>
              </a:solidFill>
              <a:effectLst/>
            </c:spPr>
          </c:dPt>
          <c:dPt>
            <c:idx val="5"/>
            <c:bubble3D val="0"/>
            <c:spPr>
              <a:solidFill>
                <a:srgbClr val="5B6C7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7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Product development</c:v>
                </c:pt>
                <c:pt idx="1">
                  <c:v>Team &amp; talent</c:v>
                </c:pt>
                <c:pt idx="2">
                  <c:v>Marketing &amp; growth</c:v>
                </c:pt>
                <c:pt idx="3">
                  <c:v>Operations &amp; support</c:v>
                </c:pt>
                <c:pt idx="4">
                  <c:v>Partnerships &amp; integrations</c:v>
                </c:pt>
                <c:pt idx="5">
                  <c:v>Legal &amp; compliance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30</c:v>
                </c:pt>
                <c:pt idx="1">
                  <c:v>20</c:v>
                </c:pt>
                <c:pt idx="2">
                  <c:v>20</c:v>
                </c:pt>
                <c:pt idx="3">
                  <c:v>15</c:v>
                </c:pt>
                <c:pt idx="4">
                  <c:v>10</c:v>
                </c:pt>
                <c:pt idx="5">
                  <c:v>5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investor-deck/assets/cover-skylin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89120" y="320040"/>
            <a:ext cx="4572000" cy="28346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4754880" cy="5143500"/>
          </a:xfrm>
          <a:prstGeom prst="rect">
            <a:avLst/>
          </a:prstGeom>
          <a:solidFill>
            <a:srgbClr val="08192B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02920" y="100584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DECK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trusted operating layer for home discovery, tenancy and home services in Africa.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788920"/>
            <a:ext cx="1463040" cy="256032"/>
          </a:xfrm>
          <a:prstGeom prst="roundRect">
            <a:avLst>
              <a:gd name="adj" fmla="val 28571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28254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PROPTECH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1371600" y="2788920"/>
            <a:ext cx="1463040" cy="256032"/>
          </a:xfrm>
          <a:prstGeom prst="roundRect">
            <a:avLst>
              <a:gd name="adj" fmla="val 28571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371600" y="28254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HOUSING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2148840" y="2788920"/>
            <a:ext cx="1463040" cy="256032"/>
          </a:xfrm>
          <a:prstGeom prst="roundRect">
            <a:avLst>
              <a:gd name="adj" fmla="val 28571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148840" y="2825496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SERVICES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502920" y="320040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nyumbasearch.com  ·  August 2026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 The complete home journey.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connects people to homes while helping property businesses acquire tenants, manage properties and access trusted home services.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E1F4E9"/>
          </a:solidFill>
          <a:ln w="6350">
            <a:solidFill>
              <a:srgbClr val="C5E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928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18562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05840" y="20574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· location · budget · property type · neighbourhood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2441448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E1F4E9"/>
          </a:solidFill>
          <a:ln w="6350">
            <a:solidFill>
              <a:srgbClr val="C5E8D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55117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25146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05840" y="2715768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Owner/listing verification · property validation · reviews · risk signals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3099816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E1F4E9"/>
          </a:solidFill>
          <a:ln w="6350">
            <a:solidFill>
              <a:srgbClr val="C5E8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20954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317296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3374136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portal · rent tracking · payments · leases · invoices · maintenance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3758184"/>
            <a:ext cx="4754880" cy="566928"/>
          </a:xfrm>
          <a:prstGeom prst="roundRect">
            <a:avLst>
              <a:gd name="adj" fmla="val 9677"/>
            </a:avLst>
          </a:prstGeom>
          <a:solidFill>
            <a:srgbClr val="E1F4E9"/>
          </a:solidFill>
          <a:ln w="6350">
            <a:solidFill>
              <a:srgbClr val="C5E8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867912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383133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05840" y="40325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Movers · cleaners · repairs · security · solar · interior services</a:t>
            </a:r>
            <a:endParaRPr lang="en-US" sz="800" dirty="0"/>
          </a:p>
        </p:txBody>
      </p:sp>
      <p:pic>
        <p:nvPicPr>
          <p:cNvPr id="21" name="Image 0" descr="/workspace/investor-deck/assets/ecosystem-flow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0" y="1691640"/>
            <a:ext cx="3154680" cy="23317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486400" y="4160520"/>
            <a:ext cx="3154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discovery to move-in and beyond.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Housing discovery is fragmented. Trust is expensive.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150876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49047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is fragmented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0136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· social media · classifieds · WhatsApp · property sites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is inconsistent across channels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663440" y="141732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73168" y="150876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74920" y="149047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is expensive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46320" y="180136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· transport · effort visiting unavailable listings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Inaccurate or poorly represented properties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" y="292608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29077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journey ends too early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321868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platforms stop at the listing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Tenancy · rent · management · services not connected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283464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926080"/>
            <a:ext cx="320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074920" y="29077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 lack modern tools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0" y="3218688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management · tenant records · rent tracking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 workflows · portfolio visibility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2920" y="4251960"/>
            <a:ext cx="8138160" cy="320040"/>
          </a:xfrm>
          <a:prstGeom prst="roundRect">
            <a:avLst>
              <a:gd name="adj" fmla="val 17143"/>
            </a:avLst>
          </a:prstGeom>
          <a:solidFill>
            <a:srgbClr val="08192B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429768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user relationship before, during and after the move.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trusted operating layer for the entire home journey.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17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169164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Map-first discovery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Neighbourhood + budget + type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468880" y="17830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51760" y="1325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51760" y="1417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0" y="169164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Owner/listing verification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signals · reviews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617720" y="17830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00600" y="1325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1F4E9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417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169164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tracking · leases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Invoices · tenant management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766560" y="17830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949440" y="1325880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19995C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417320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040880" y="1691640"/>
            <a:ext cx="1737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home services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· cleaning · repairs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02920" y="251460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relationship. Multiple high-value touchpoints.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8803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4F7F5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29992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32735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right home.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91840" y="28803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4F7F5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9992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OWNERS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91840" y="32735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Acquire and manage tenants.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080760" y="2880360"/>
            <a:ext cx="2606040" cy="868680"/>
          </a:xfrm>
          <a:prstGeom prst="roundRect">
            <a:avLst>
              <a:gd name="adj" fmla="val 8421"/>
            </a:avLst>
          </a:prstGeom>
          <a:solidFill>
            <a:srgbClr val="F4F7F5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80760" y="2999232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80760" y="32735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verified demand.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product. Multiple high-value touchpoints.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5" name="Shape 3"/>
          <p:cNvSpPr/>
          <p:nvPr/>
        </p:nvSpPr>
        <p:spPr>
          <a:xfrm>
            <a:off x="466344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6" name="Image 0" descr="/workspace/docs/investor-package/assets/crops/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344" y="1380744"/>
            <a:ext cx="1463040" cy="2148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discovery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2130552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9" name="Shape 6"/>
          <p:cNvSpPr/>
          <p:nvPr/>
        </p:nvSpPr>
        <p:spPr>
          <a:xfrm>
            <a:off x="2185416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10" name="Image 1" descr="/workspace/docs/investor-package/assets/crops/propert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416" y="1380744"/>
            <a:ext cx="1463040" cy="21488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130552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listing</a:t>
            </a:r>
            <a:endParaRPr lang="en-US" sz="700" dirty="0"/>
          </a:p>
        </p:txBody>
      </p:sp>
      <p:sp>
        <p:nvSpPr>
          <p:cNvPr id="12" name="Shape 8"/>
          <p:cNvSpPr/>
          <p:nvPr/>
        </p:nvSpPr>
        <p:spPr>
          <a:xfrm>
            <a:off x="3849624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13" name="Shape 9"/>
          <p:cNvSpPr/>
          <p:nvPr/>
        </p:nvSpPr>
        <p:spPr>
          <a:xfrm>
            <a:off x="3904488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14" name="Image 2" descr="/workspace/docs/investor-package/assets/crops/landlor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1380744"/>
            <a:ext cx="1463040" cy="21488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849624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management</a:t>
            </a:r>
            <a:endParaRPr lang="en-US" sz="700" dirty="0"/>
          </a:p>
        </p:txBody>
      </p:sp>
      <p:sp>
        <p:nvSpPr>
          <p:cNvPr id="16" name="Shape 11"/>
          <p:cNvSpPr/>
          <p:nvPr/>
        </p:nvSpPr>
        <p:spPr>
          <a:xfrm>
            <a:off x="5568696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17" name="Shape 12"/>
          <p:cNvSpPr/>
          <p:nvPr/>
        </p:nvSpPr>
        <p:spPr>
          <a:xfrm>
            <a:off x="5623560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18" name="Image 3" descr="/workspace/docs/investor-package/assets/crops/mobil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1380744"/>
            <a:ext cx="1463040" cy="214884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568696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&amp; payments</a:t>
            </a:r>
            <a:endParaRPr lang="en-US" sz="700" dirty="0"/>
          </a:p>
        </p:txBody>
      </p:sp>
      <p:sp>
        <p:nvSpPr>
          <p:cNvPr id="20" name="Shape 14"/>
          <p:cNvSpPr/>
          <p:nvPr/>
        </p:nvSpPr>
        <p:spPr>
          <a:xfrm>
            <a:off x="7287768" y="1325880"/>
            <a:ext cx="1572768" cy="2331720"/>
          </a:xfrm>
          <a:prstGeom prst="roundRect">
            <a:avLst>
              <a:gd name="adj" fmla="val 6977"/>
            </a:avLst>
          </a:prstGeom>
          <a:solidFill>
            <a:srgbClr val="08192B"/>
          </a:solidFill>
          <a:ln/>
        </p:spPr>
      </p:sp>
      <p:sp>
        <p:nvSpPr>
          <p:cNvPr id="21" name="Shape 15"/>
          <p:cNvSpPr/>
          <p:nvPr/>
        </p:nvSpPr>
        <p:spPr>
          <a:xfrm>
            <a:off x="7342632" y="1380744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AFCFA"/>
          </a:solidFill>
          <a:ln/>
        </p:spPr>
      </p:sp>
      <p:pic>
        <p:nvPicPr>
          <p:cNvPr id="22" name="Image 4" descr="/workspace/docs/investor-package/assets/crops/services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2632" y="1380744"/>
            <a:ext cx="1463040" cy="214884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287768" y="3694176"/>
            <a:ext cx="15727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services</a:t>
            </a:r>
            <a:endParaRPr lang="en-US" sz="700" dirty="0"/>
          </a:p>
        </p:txBody>
      </p:sp>
      <p:sp>
        <p:nvSpPr>
          <p:cNvPr id="24" name="Text 17"/>
          <p:cNvSpPr/>
          <p:nvPr/>
        </p:nvSpPr>
        <p:spPr>
          <a:xfrm>
            <a:off x="502920" y="3977640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→ verification → tenancy → services.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502920" y="4251960"/>
            <a:ext cx="8138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from live nyumbasearch.com product surfaces · August 2026</a:t>
            </a:r>
            <a:endParaRPr lang="en-US" sz="700" dirty="0"/>
          </a:p>
        </p:txBody>
      </p:sp>
      <p:sp>
        <p:nvSpPr>
          <p:cNvPr id="26" name="Text 19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7" name="Text 20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product-market signal — with a live platform.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35608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263+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2920" y="180136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91840" y="13258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1435608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182+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291840" y="180136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NEIGHBOUR-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HOODS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080760" y="132588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80760" y="1435608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214+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080760" y="180136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TRUSTED SERVICE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56032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670048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132+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02920" y="303580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/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TENANTS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91840" y="256032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91840" y="2670048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24+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3291840" y="303580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80760" y="256032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80760" y="2670048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109+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6080760" y="303580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2920" y="3794760"/>
            <a:ext cx="5029200" cy="777240"/>
          </a:xfrm>
          <a:prstGeom prst="roundRect">
            <a:avLst>
              <a:gd name="adj" fmla="val 7059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84048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signal (illustrative)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85800" y="4075938"/>
            <a:ext cx="502920" cy="26746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4370832"/>
            <a:ext cx="5029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1645920" y="4199382"/>
            <a:ext cx="502920" cy="144018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27" name="Text 25"/>
          <p:cNvSpPr/>
          <p:nvPr/>
        </p:nvSpPr>
        <p:spPr>
          <a:xfrm>
            <a:off x="1645920" y="4370832"/>
            <a:ext cx="5029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606040" y="4117086"/>
            <a:ext cx="502920" cy="226314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29" name="Text 27"/>
          <p:cNvSpPr/>
          <p:nvPr/>
        </p:nvSpPr>
        <p:spPr>
          <a:xfrm>
            <a:off x="2606040" y="4370832"/>
            <a:ext cx="5029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566160" y="4261104"/>
            <a:ext cx="502920" cy="82296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31" name="Text 29"/>
          <p:cNvSpPr/>
          <p:nvPr/>
        </p:nvSpPr>
        <p:spPr>
          <a:xfrm>
            <a:off x="3566160" y="4370832"/>
            <a:ext cx="5029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4526280" y="4178808"/>
            <a:ext cx="502920" cy="16459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26280" y="4370832"/>
            <a:ext cx="5029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5760720" y="3657600"/>
            <a:ext cx="2880360" cy="914400"/>
          </a:xfrm>
          <a:prstGeom prst="roundRect">
            <a:avLst>
              <a:gd name="adj" fmla="val 8000"/>
            </a:avLst>
          </a:prstGeom>
          <a:solidFill>
            <a:srgbClr val="08192B"/>
          </a:solidFill>
          <a:ln/>
        </p:spPr>
      </p:sp>
      <p:sp>
        <p:nvSpPr>
          <p:cNvPr id="35" name="Text 33"/>
          <p:cNvSpPr/>
          <p:nvPr/>
        </p:nvSpPr>
        <p:spPr>
          <a:xfrm>
            <a:off x="5897880" y="3794760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is live. Supply is being built. The next growth phase is distribution, repeat usage and monetization.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4617720"/>
            <a:ext cx="8138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figures from supplied materials — August 2026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TIMING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Kenya is digitally connected while housing demand keeps rising.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E1F4E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44475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12648" y="1874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Nairobi houses projected required by 2030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12648" y="22402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material market statistic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329184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E1F4E9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4475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85.2%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401568" y="1874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Smartphone penetration in Kenya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01568" y="22402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2025 · reference material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6080760" y="132588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E1F4E9"/>
          </a:solidFill>
          <a:ln/>
        </p:spPr>
      </p:sp>
      <p:sp>
        <p:nvSpPr>
          <p:cNvPr id="13" name="Text 11"/>
          <p:cNvSpPr/>
          <p:nvPr/>
        </p:nvSpPr>
        <p:spPr>
          <a:xfrm>
            <a:off x="6080760" y="1444752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48.6M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90488" y="18745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Mobile-money subscriptions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90488" y="224028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2025 · reference material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02920" y="26974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NOW?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292608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 discover through mobile products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Housing remains frequent and locally fragmented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money enables digital transactions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remains a major issue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operations remain underserved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0" y="2743200"/>
            <a:ext cx="1005840" cy="777240"/>
          </a:xfrm>
          <a:prstGeom prst="roundRect">
            <a:avLst>
              <a:gd name="adj" fmla="val 7059"/>
            </a:avLst>
          </a:prstGeom>
          <a:solidFill>
            <a:srgbClr val="19995C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0" y="283464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486400" y="30632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Nairobi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510528" y="30632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629400" y="2743200"/>
            <a:ext cx="1005840" cy="777240"/>
          </a:xfrm>
          <a:prstGeom prst="roundRect">
            <a:avLst>
              <a:gd name="adj" fmla="val 7059"/>
            </a:avLst>
          </a:prstGeom>
          <a:solidFill>
            <a:srgbClr val="F4F7F5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29400" y="283464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629400" y="30632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Kenya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653528" y="30632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772400" y="2743200"/>
            <a:ext cx="1005840" cy="777240"/>
          </a:xfrm>
          <a:prstGeom prst="roundRect">
            <a:avLst>
              <a:gd name="adj" fmla="val 7059"/>
            </a:avLst>
          </a:prstGeom>
          <a:solidFill>
            <a:srgbClr val="F4F7F5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283464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7772400" y="3063240"/>
            <a:ext cx="1005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African urban markets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MARKET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sides of the ecosystem. One network effect.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AFCFA"/>
          </a:solidFill>
          <a:ln w="12700">
            <a:solidFill>
              <a:srgbClr val="3AB57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325880"/>
            <a:ext cx="2606040" cy="7315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TENANTS &amp; HOME SEEKERS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12648" y="19659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Includes: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12648" y="2148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· young professionals · families · relocators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2648" y="269748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12648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Trustworthy listings · easy discovery · verification · convenience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91840" y="132588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AFCFA"/>
          </a:solidFill>
          <a:ln w="12700">
            <a:solidFill>
              <a:srgbClr val="3AB57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325880"/>
            <a:ext cx="2606040" cy="7315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13" name="Text 11"/>
          <p:cNvSpPr/>
          <p:nvPr/>
        </p:nvSpPr>
        <p:spPr>
          <a:xfrm>
            <a:off x="3401568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OWNERS &amp; MANAGERS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01568" y="19659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Includes: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401568" y="2148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Landlords · managers · agencies · developers · institutions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401568" y="269748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01568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acquisition · portfolio visibility · rent &amp; tenant management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1325880"/>
            <a:ext cx="2606040" cy="2743200"/>
          </a:xfrm>
          <a:prstGeom prst="roundRect">
            <a:avLst>
              <a:gd name="adj" fmla="val 3509"/>
            </a:avLst>
          </a:prstGeom>
          <a:solidFill>
            <a:srgbClr val="FAFCFA"/>
          </a:solidFill>
          <a:ln w="12700">
            <a:solidFill>
              <a:srgbClr val="3AB5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1325880"/>
            <a:ext cx="2606040" cy="73152"/>
          </a:xfrm>
          <a:prstGeom prst="rect">
            <a:avLst/>
          </a:prstGeom>
          <a:solidFill>
            <a:srgbClr val="19995C"/>
          </a:solidFill>
          <a:ln/>
        </p:spPr>
      </p:sp>
      <p:sp>
        <p:nvSpPr>
          <p:cNvPr id="20" name="Text 18"/>
          <p:cNvSpPr/>
          <p:nvPr/>
        </p:nvSpPr>
        <p:spPr>
          <a:xfrm>
            <a:off x="6190488" y="148132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SERVICE PROVIDERS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90488" y="19659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Includes: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190488" y="214884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Movers · cleaners · repairs · security · solar · interior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190488" y="269748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Needs: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190488" y="288036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Qualified demand · customer acquisition · repeat business · visibility</a:t>
            </a:r>
            <a:endParaRPr lang="en-US" sz="800" dirty="0"/>
          </a:p>
        </p:txBody>
      </p:sp>
      <p:pic>
        <p:nvPicPr>
          <p:cNvPr id="25" name="Image 0" descr="/workspace/investor-deck/assets/flywheel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26080" y="4160520"/>
            <a:ext cx="3291840" cy="50292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monetization layers, with recurring revenue at the core.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" y="141732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139903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Landlord &amp; listing plans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167335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KSh 999–4,999/month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89280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listings · visibility · lead mgmt · verification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73168" y="141732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0" y="139903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management SaaS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0" y="167335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KSh 2,000–10,000/month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0" y="189280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collection · leases · invoices · tenant records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74320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283464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281635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 monetization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309067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KSh 1,500–5,000/month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68680" y="331012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Subscriptions · premium placement · qualified leads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663440" y="2743200"/>
            <a:ext cx="3886200" cy="1280160"/>
          </a:xfrm>
          <a:prstGeom prst="roundRect">
            <a:avLst>
              <a:gd name="adj" fmla="val 5714"/>
            </a:avLst>
          </a:prstGeom>
          <a:solidFill>
            <a:srgbClr val="FAFCFA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2834640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029200" y="2816352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&amp; protection referrals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0" y="3090672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Revenue-share model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0" y="331012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Mortgages · insurance · savings · rent-related products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02920" y="4343400"/>
            <a:ext cx="8138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pricing assumptions — subject to validation. Current revenue: not disclosed / early monetization stage.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POTENTIAL · ESTIMATE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revenue as all sectors activate.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2920" y="1353312"/>
            <a:ext cx="8138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A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REVENUE POTENTIAL — not current revenue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572768"/>
          <a:ext cx="475488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5486400" y="1572768"/>
          <a:ext cx="320040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0" y="3794760"/>
            <a:ext cx="3200400" cy="502920"/>
          </a:xfrm>
          <a:prstGeom prst="roundRect">
            <a:avLst>
              <a:gd name="adj" fmla="val 14545"/>
            </a:avLst>
          </a:prstGeom>
          <a:solidFill>
            <a:srgbClr val="08192B"/>
          </a:solidFill>
          <a:ln/>
        </p:spPr>
      </p:sp>
      <p:sp>
        <p:nvSpPr>
          <p:cNvPr id="8" name="Text 4"/>
          <p:cNvSpPr/>
          <p:nvPr/>
        </p:nvSpPr>
        <p:spPr>
          <a:xfrm>
            <a:off x="5577840" y="3840480"/>
            <a:ext cx="3017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5 illustrative annual revenue</a:t>
            </a:r>
            <a:endParaRPr lang="en-US" sz="800" dirty="0"/>
          </a:p>
        </p:txBody>
      </p:sp>
      <p:sp>
        <p:nvSpPr>
          <p:cNvPr id="9" name="Text 5"/>
          <p:cNvSpPr/>
          <p:nvPr/>
        </p:nvSpPr>
        <p:spPr>
          <a:xfrm>
            <a:off x="5577840" y="4005072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4.8M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02920" y="4434840"/>
            <a:ext cx="8138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planning scenario based on assumptions; actual results may differ.</a:t>
            </a:r>
            <a:endParaRPr lang="en-US" sz="700" dirty="0"/>
          </a:p>
        </p:txBody>
      </p:sp>
      <p:sp>
        <p:nvSpPr>
          <p:cNvPr id="11" name="Text 7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12" name="Text 8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VS. POTENTIAL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early traction to a scaled housing network.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657600" cy="2743200"/>
          </a:xfrm>
          <a:prstGeom prst="roundRect">
            <a:avLst>
              <a:gd name="adj" fmla="val 3333"/>
            </a:avLst>
          </a:prstGeom>
          <a:solidFill>
            <a:srgbClr val="F4F7F5"/>
          </a:solidFill>
          <a:ln w="9525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4475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TODAY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1664208"/>
            <a:ext cx="3383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 · CURRENT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263+ verified homes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132+ users / tenants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24+ listing accounts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109+ lead actions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214+ service providers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product · early marketplace signal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251960" y="26060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09160" y="1325880"/>
            <a:ext cx="3931920" cy="2743200"/>
          </a:xfrm>
          <a:prstGeom prst="roundRect">
            <a:avLst>
              <a:gd name="adj" fmla="val 3333"/>
            </a:avLst>
          </a:prstGeom>
          <a:solidFill>
            <a:srgbClr val="E1F4E9"/>
          </a:solidFill>
          <a:ln w="12700">
            <a:solidFill>
              <a:srgbClr val="3AB5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4447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 HEADED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1664208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3–5 year potential · TARGET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92040" y="1920240"/>
            <a:ext cx="3611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50,000+ verified homes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250,000+ active users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5,000+ property owners/managers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service providers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monthly transaction volume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expansion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4279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EARLY TRACTION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42976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926080" y="4279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800600" y="42976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74920" y="4279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EFFECT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6949440" y="429768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23760" y="42793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LEADERSHIP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compete with discovery channels — but our ambition is broader.</a:t>
            </a:r>
            <a:endParaRPr lang="en-US" sz="2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17320"/>
          <a:ext cx="83210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868680"/>
                <a:gridCol w="868680"/>
                <a:gridCol w="777240"/>
                <a:gridCol w="1051560"/>
                <a:gridCol w="1143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Property24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Lamudi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Jiji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Social / WhatsApp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NyumbaSearch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Listing discovery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listings / owners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Productized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Property risk signals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Built-in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End-to-end tenancy tools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In-platform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Rent collection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Productized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Property management SaaS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In-platform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services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 hoc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214+ live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Financial integration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Limited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Referral paths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All-in-one ecosystem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Listing-led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Listing-led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Classifieds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B2B3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Informal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81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3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4E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alternatives help users FIND a property. NyumbaSearch aims to help users FIND, VERIFY, MANAGE and SERVE the entire home journey.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7" name="Text 4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STRATEGY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is the next growth engine.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144475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residences &amp; universities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" y="166420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Exclusive student inventory · acquisition · verified discovery · digital tenancy workflows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22960" y="1984248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/ strategic target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4663440" y="1389888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463040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83480" y="1444752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 &amp; financial institutions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983480" y="166420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payments · savings · insurance · mortgages · customer acquisition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4983480" y="1984248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/ strategic target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502920" y="2286000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359152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" y="234086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owners &amp; managers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2560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onboarding · lead generation · PM SaaS · rent collection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822960" y="2880360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supply channel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663440" y="2286000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2359152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83480" y="2340864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&amp; housing partners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25603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housing · relocation · institutional accommodation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983480" y="2880360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opportunity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468880" y="3182112"/>
            <a:ext cx="3886200" cy="804672"/>
          </a:xfrm>
          <a:prstGeom prst="roundRect">
            <a:avLst>
              <a:gd name="adj" fmla="val 6818"/>
            </a:avLst>
          </a:prstGeom>
          <a:solidFill>
            <a:srgbClr val="FAFCFA"/>
          </a:solidFill>
          <a:ln w="6350">
            <a:solidFill>
              <a:srgbClr val="D8E3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60320" y="3255264"/>
            <a:ext cx="228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88920" y="3236976"/>
            <a:ext cx="3383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providers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88920" y="3456432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Movers · cleaners · repairs · security · solar · interior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788920" y="3776472"/>
            <a:ext cx="3383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214+ live today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502920" y="4224528"/>
            <a:ext cx="8138160" cy="292608"/>
          </a:xfrm>
          <a:prstGeom prst="roundRect">
            <a:avLst>
              <a:gd name="adj" fmla="val 18750"/>
            </a:avLst>
          </a:prstGeom>
          <a:solidFill>
            <a:srgbClr val="08192B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4261104"/>
            <a:ext cx="8138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 → Supply → Users → Transactions → Data &amp; trust → More partners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8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ASK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1.5M Pre-Series 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to convert early product traction into repeatable distribution, stronger infrastructure and regional scale.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1,500,000</a:t>
            </a:r>
            <a:endParaRPr lang="en-US" sz="3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892040" y="1298448"/>
          <a:ext cx="374904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242316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development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3108960" y="24231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611880" y="242316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450,000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502920" y="275234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talent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3108960" y="275234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611880" y="2752344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300,000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502920" y="3081528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&amp; growth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3108960" y="3081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611880" y="308152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300,000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502920" y="3410712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&amp; support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3108960" y="341071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611880" y="341071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225,000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02920" y="3739896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 &amp; integrations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108960" y="373989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3611880" y="3739896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150,000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02920" y="4069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&amp; compliance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108960" y="406908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11880" y="406908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75,000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C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B2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network, then compound the network.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965960" cy="2606040"/>
          </a:xfrm>
          <a:prstGeom prst="roundRect">
            <a:avLst>
              <a:gd name="adj" fmla="val 3721"/>
            </a:avLst>
          </a:prstGeom>
          <a:solidFill>
            <a:srgbClr val="E1F4E9"/>
          </a:solidFill>
          <a:ln w="9525">
            <a:solidFill>
              <a:srgbClr val="3AB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813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Deepen product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214884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· payments · verification · leads · service network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2496312" y="23774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51760" y="1371600"/>
            <a:ext cx="1965960" cy="2606040"/>
          </a:xfrm>
          <a:prstGeom prst="roundRect">
            <a:avLst>
              <a:gd name="adj" fmla="val 3721"/>
            </a:avLst>
          </a:prstGeom>
          <a:solidFill>
            <a:srgbClr val="FAFCFA"/>
          </a:solidFill>
          <a:ln w="9525">
            <a:solidFill>
              <a:srgbClr val="3AB5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14813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743200" y="1783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distribution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0" y="214884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residences · banks · property groups · corporate housing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645152" y="23774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800600" y="1371600"/>
            <a:ext cx="1965960" cy="2606040"/>
          </a:xfrm>
          <a:prstGeom prst="roundRect">
            <a:avLst>
              <a:gd name="adj" fmla="val 3721"/>
            </a:avLst>
          </a:prstGeom>
          <a:solidFill>
            <a:srgbClr val="FAFCFA"/>
          </a:solidFill>
          <a:ln w="9525">
            <a:solidFill>
              <a:srgbClr val="3AB5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14813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1783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transactions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92040" y="214884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collection · services · subscriptions · financial referrals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793992" y="2377440"/>
            <a:ext cx="320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49440" y="1371600"/>
            <a:ext cx="1965960" cy="2606040"/>
          </a:xfrm>
          <a:prstGeom prst="roundRect">
            <a:avLst>
              <a:gd name="adj" fmla="val 3721"/>
            </a:avLst>
          </a:prstGeom>
          <a:solidFill>
            <a:srgbClr val="FAFCFA"/>
          </a:solidFill>
          <a:ln w="9525">
            <a:solidFill>
              <a:srgbClr val="3AB5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1481328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2029–30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040880" y="17830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1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scale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40880" y="2148840"/>
            <a:ext cx="1783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African urban markets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2920" y="4160520"/>
            <a:ext cx="8138160" cy="320040"/>
          </a:xfrm>
          <a:prstGeom prst="roundRect">
            <a:avLst>
              <a:gd name="adj" fmla="val 17143"/>
            </a:avLst>
          </a:prstGeom>
          <a:solidFill>
            <a:srgbClr val="08192B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4206240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→ Partnerships → Transactions → Recurring revenue → Regional scale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819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199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OPPORTUNITY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home infrastructure layer.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115568"/>
            <a:ext cx="8138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is building more than a property marketplace.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389888"/>
            <a:ext cx="8138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building a trusted ecosystem connecting people, properties, payments and home services.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0F2A44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121408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3957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right home.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651760" y="20116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0F2A44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51760" y="2121408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651760" y="23957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with confidence.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00600" y="20116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0F2A44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121408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00600" y="23957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 the tenancy.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949440" y="2011680"/>
            <a:ext cx="1965960" cy="868680"/>
          </a:xfrm>
          <a:prstGeom prst="roundRect">
            <a:avLst>
              <a:gd name="adj" fmla="val 8421"/>
            </a:avLst>
          </a:prstGeom>
          <a:solidFill>
            <a:srgbClr val="0F2A44"/>
          </a:solidFill>
          <a:ln w="6350">
            <a:solidFill>
              <a:srgbClr val="3AB5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0" y="2121408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1D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49440" y="2395728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trusted services.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02920" y="3108960"/>
            <a:ext cx="8138160" cy="411480"/>
          </a:xfrm>
          <a:prstGeom prst="roundRect">
            <a:avLst>
              <a:gd name="adj" fmla="val 17778"/>
            </a:avLst>
          </a:prstGeom>
          <a:solidFill>
            <a:srgbClr val="19995C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182112"/>
            <a:ext cx="8138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C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with us. Invest in the infrastructure of Africa's housing journey.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3749040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 ·  nyumbasearch.com  ·  August 2026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stress. Better homes. Stronger communities.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" y="4850892"/>
            <a:ext cx="5943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NYUMBASEARCH • INVESTOR DECK • AUGUST 2026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8321040" y="485089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B6C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NyumbaSearch Investor Deck — August 2026</dc:title>
  <dc:subject>Pre-Series A Investor Presentation</dc:subject>
  <dc:creator>NyumbaSearch</dc:creator>
  <cp:lastModifiedBy>NyumbaSearch</cp:lastModifiedBy>
  <cp:revision>1</cp:revision>
  <dcterms:created xsi:type="dcterms:W3CDTF">2026-08-29T23:25:55Z</dcterms:created>
  <dcterms:modified xsi:type="dcterms:W3CDTF">2026-08-29T23:25:55Z</dcterms:modified>
</cp:coreProperties>
</file>