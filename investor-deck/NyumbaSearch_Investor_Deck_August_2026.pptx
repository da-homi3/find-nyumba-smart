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(USD M)</c:v>
                </c:pt>
              </c:strCache>
            </c:strRef>
          </c:tx>
          <c:spPr>
            <a:solidFill>
              <a:srgbClr val="1999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</c:v>
                </c:pt>
                <c:pt idx="1">
                  <c:v>0.9</c:v>
                </c:pt>
                <c:pt idx="2">
                  <c:v>1.9</c:v>
                </c:pt>
                <c:pt idx="3">
                  <c:v>3.2</c:v>
                </c:pt>
                <c:pt idx="4">
                  <c:v>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Year 5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8192B"/>
              </a:solidFill>
              <a:effectLst/>
            </c:spPr>
          </c:dPt>
          <c:dPt>
            <c:idx val="1"/>
            <c:bubble3D val="0"/>
            <c:spPr>
              <a:solidFill>
                <a:srgbClr val="19995C"/>
              </a:solidFill>
              <a:effectLst/>
            </c:spPr>
          </c:dPt>
          <c:dPt>
            <c:idx val="2"/>
            <c:bubble3D val="0"/>
            <c:spPr>
              <a:solidFill>
                <a:srgbClr val="3AB570"/>
              </a:solidFill>
              <a:effectLst/>
            </c:spPr>
          </c:dPt>
          <c:dPt>
            <c:idx val="3"/>
            <c:bubble3D val="0"/>
            <c:spPr>
              <a:solidFill>
                <a:srgbClr val="E0AA3E"/>
              </a:solidFill>
              <a:effectLst/>
            </c:spPr>
          </c:dPt>
          <c:dPt>
            <c:idx val="4"/>
            <c:bubble3D val="0"/>
            <c:spPr>
              <a:solidFill>
                <a:srgbClr val="5B6C7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Property mgmt SaaS</c:v>
                </c:pt>
                <c:pt idx="1">
                  <c:v>Landlord &amp; listing</c:v>
                </c:pt>
                <c:pt idx="2">
                  <c:v>Service providers</c:v>
                </c:pt>
                <c:pt idx="3">
                  <c:v>Financial / referrals</c:v>
                </c:pt>
                <c:pt idx="4">
                  <c:v>Data / ads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9995C"/>
              </a:solidFill>
              <a:effectLst/>
            </c:spPr>
          </c:dPt>
          <c:dPt>
            <c:idx val="1"/>
            <c:bubble3D val="0"/>
            <c:spPr>
              <a:solidFill>
                <a:srgbClr val="3AB570"/>
              </a:solidFill>
              <a:effectLst/>
            </c:spPr>
          </c:dPt>
          <c:dPt>
            <c:idx val="2"/>
            <c:bubble3D val="0"/>
            <c:spPr>
              <a:solidFill>
                <a:srgbClr val="E0AA3E"/>
              </a:solidFill>
              <a:effectLst/>
            </c:spPr>
          </c:dPt>
          <c:dPt>
            <c:idx val="3"/>
            <c:bubble3D val="0"/>
            <c:spPr>
              <a:solidFill>
                <a:srgbClr val="0F2A44"/>
              </a:solidFill>
              <a:effectLst/>
            </c:spPr>
          </c:dPt>
          <c:dPt>
            <c:idx val="4"/>
            <c:bubble3D val="0"/>
            <c:spPr>
              <a:solidFill>
                <a:srgbClr val="91D64D"/>
              </a:solidFill>
              <a:effectLst/>
            </c:spPr>
          </c:dPt>
          <c:dPt>
            <c:idx val="5"/>
            <c:bubble3D val="0"/>
            <c:spPr>
              <a:solidFill>
                <a:srgbClr val="5B6C7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Product development</c:v>
                </c:pt>
                <c:pt idx="1">
                  <c:v>Team &amp; talent</c:v>
                </c:pt>
                <c:pt idx="2">
                  <c:v>Marketing &amp; growth</c:v>
                </c:pt>
                <c:pt idx="3">
                  <c:v>Operations &amp; support</c:v>
                </c:pt>
                <c:pt idx="4">
                  <c:v>Partnerships &amp; integrations</c:v>
                </c:pt>
                <c:pt idx="5">
                  <c:v>Legal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investor-deck/assets/cover-skylin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9120" y="320040"/>
            <a:ext cx="4572000" cy="2834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8192B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10058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DECK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trusted operating layer for home discovery, tenancy and home services in Africa.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PROPTECH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37160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7160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14884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SERVICES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502920" y="32004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nyumbasearch.com  ·  August 2026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The complete home journey.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connects people to homes while helping property businesses acquire tenants, manage properties and access trusted home services.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928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8562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0574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· location · budget · property type · neighbourhood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2441448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5117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71576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Owner/listing verification · property validation · reviews · risk signals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3099816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0954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317296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3741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portal · rent tracking · payments · leases · invoices · maintenance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3758184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6791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8313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05840" y="40325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 services</a:t>
            </a:r>
            <a:endParaRPr lang="en-US" sz="800" dirty="0"/>
          </a:p>
        </p:txBody>
      </p:sp>
      <p:pic>
        <p:nvPicPr>
          <p:cNvPr id="21" name="Image 0" descr="/workspace/investor-deck/assets/ecosystem-flo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0" y="1691640"/>
            <a:ext cx="3154680" cy="23317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0" y="4160520"/>
            <a:ext cx="3154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discovery to move-in and beyond.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 discovery is fragmented. Trust is expensive.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150876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is fragmented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0136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· social media · classifieds · WhatsApp · property sites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is inconsistent across channels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3168" y="150876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4920" y="149047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expensive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80136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· transport · effort visiting unavailable listings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Inaccurate or poorly represented properties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292608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2907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journey ends too early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21868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platforms stop at the listing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Tenancy · rent · management · services not connected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92608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4920" y="2907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lack modern tools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1868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management · tenant records · rent tracking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workflows · portfolio visibility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2920" y="4251960"/>
            <a:ext cx="8138160" cy="320040"/>
          </a:xfrm>
          <a:prstGeom prst="roundRect">
            <a:avLst>
              <a:gd name="adj" fmla="val 17143"/>
            </a:avLst>
          </a:prstGeom>
          <a:solidFill>
            <a:srgbClr val="08192B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42976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user relationship before, during and after the move.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trusted operating layer for the entire home journey.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Map-first discovery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Neighbourhood + budget + type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46888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5176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Owner/listing verification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signals · reviews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61772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0060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tracking · leases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 · tenant management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76656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94944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9995C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home services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· cleaning · repairs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02920" y="25146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relationship. Multiple high-value touchpoints.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right home.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184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9184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 and manage tenants.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8076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verified demand.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product. Multiple high-value touchpoints.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5" name="Shape 3"/>
          <p:cNvSpPr/>
          <p:nvPr/>
        </p:nvSpPr>
        <p:spPr>
          <a:xfrm>
            <a:off x="466344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6" name="Image 0" descr="/workspace/docs/investor-package/assets/crops/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380744"/>
            <a:ext cx="1463040" cy="2148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discovery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2130552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9" name="Shape 6"/>
          <p:cNvSpPr/>
          <p:nvPr/>
        </p:nvSpPr>
        <p:spPr>
          <a:xfrm>
            <a:off x="2185416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0" name="Image 1" descr="/workspace/docs/investor-package/assets/crops/propert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16" y="1380744"/>
            <a:ext cx="1463040" cy="2148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30552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listing</a:t>
            </a:r>
            <a:endParaRPr lang="en-US" sz="700" dirty="0"/>
          </a:p>
        </p:txBody>
      </p:sp>
      <p:sp>
        <p:nvSpPr>
          <p:cNvPr id="12" name="Shape 8"/>
          <p:cNvSpPr/>
          <p:nvPr/>
        </p:nvSpPr>
        <p:spPr>
          <a:xfrm>
            <a:off x="3849624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13" name="Shape 9"/>
          <p:cNvSpPr/>
          <p:nvPr/>
        </p:nvSpPr>
        <p:spPr>
          <a:xfrm>
            <a:off x="3904488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4" name="Image 2" descr="/workspace/docs/investor-package/assets/crops/landlor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1380744"/>
            <a:ext cx="1463040" cy="2148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49624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</a:t>
            </a:r>
            <a:endParaRPr lang="en-US" sz="700" dirty="0"/>
          </a:p>
        </p:txBody>
      </p:sp>
      <p:sp>
        <p:nvSpPr>
          <p:cNvPr id="16" name="Shape 11"/>
          <p:cNvSpPr/>
          <p:nvPr/>
        </p:nvSpPr>
        <p:spPr>
          <a:xfrm>
            <a:off x="5568696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17" name="Shape 12"/>
          <p:cNvSpPr/>
          <p:nvPr/>
        </p:nvSpPr>
        <p:spPr>
          <a:xfrm>
            <a:off x="5623560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8" name="Image 3" descr="/workspace/docs/investor-package/assets/crops/mobi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80744"/>
            <a:ext cx="1463040" cy="21488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68696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payments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7287768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21" name="Shape 15"/>
          <p:cNvSpPr/>
          <p:nvPr/>
        </p:nvSpPr>
        <p:spPr>
          <a:xfrm>
            <a:off x="7342632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22" name="Image 4" descr="/workspace/docs/investor-package/assets/crops/service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380744"/>
            <a:ext cx="1463040" cy="21488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287768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services</a:t>
            </a:r>
            <a:endParaRPr lang="en-US" sz="700" dirty="0"/>
          </a:p>
        </p:txBody>
      </p:sp>
      <p:sp>
        <p:nvSpPr>
          <p:cNvPr id="24" name="Text 17"/>
          <p:cNvSpPr/>
          <p:nvPr/>
        </p:nvSpPr>
        <p:spPr>
          <a:xfrm>
            <a:off x="502920" y="397764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verification → tenancy → services.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502920" y="425196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from live nyumbasearch.com product surfaces · August 2026</a:t>
            </a:r>
            <a:endParaRPr lang="en-US" sz="700" dirty="0"/>
          </a:p>
        </p:txBody>
      </p:sp>
      <p:sp>
        <p:nvSpPr>
          <p:cNvPr id="26" name="Text 1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7" name="Text 2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CURRENT ANALYTICS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product-market signal — with a live platform.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0817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336+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77393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94560" y="1371600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E1F4E9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380744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550" dirty="0"/>
          </a:p>
        </p:txBody>
      </p:sp>
      <p:sp>
        <p:nvSpPr>
          <p:cNvPr id="9" name="Shape 7"/>
          <p:cNvSpPr/>
          <p:nvPr/>
        </p:nvSpPr>
        <p:spPr>
          <a:xfrm>
            <a:off x="3291840" y="1298448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40817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291840" y="177393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NEIGHBOUR-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HOODS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983480" y="1371600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E1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380744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550" dirty="0"/>
          </a:p>
        </p:txBody>
      </p:sp>
      <p:sp>
        <p:nvSpPr>
          <p:cNvPr id="14" name="Shape 12"/>
          <p:cNvSpPr/>
          <p:nvPr/>
        </p:nvSpPr>
        <p:spPr>
          <a:xfrm>
            <a:off x="6080760" y="1298448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0817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080760" y="177393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772400" y="1371600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E1F4E9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0" y="1380744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502920" y="2505456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15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132+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02920" y="298094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194560" y="2578608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/>
        </p:spPr>
      </p:sp>
      <p:sp>
        <p:nvSpPr>
          <p:cNvPr id="23" name="Text 21"/>
          <p:cNvSpPr/>
          <p:nvPr/>
        </p:nvSpPr>
        <p:spPr>
          <a:xfrm>
            <a:off x="2194560" y="2587752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291840" y="2505456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615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3291840" y="298094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983480" y="2578608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2587752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6080760" y="2505456"/>
            <a:ext cx="2606040" cy="1024128"/>
          </a:xfrm>
          <a:prstGeom prst="roundRect">
            <a:avLst>
              <a:gd name="adj" fmla="val 7143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80760" y="2615184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109+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080760" y="298094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72400" y="2578608"/>
            <a:ext cx="685800" cy="164592"/>
          </a:xfrm>
          <a:prstGeom prst="roundRect">
            <a:avLst>
              <a:gd name="adj" fmla="val 22222"/>
            </a:avLst>
          </a:prstGeom>
          <a:solidFill>
            <a:srgbClr val="FFF7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0" y="2587752"/>
            <a:ext cx="685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02920" y="3611880"/>
            <a:ext cx="5029200" cy="502920"/>
          </a:xfrm>
          <a:prstGeom prst="roundRect">
            <a:avLst>
              <a:gd name="adj" fmla="val 10909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3657600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platform snapshot (nyumbasearch.com)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" y="384048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 homes in tenant browse  ·  24+ service categories with providers  ·  336+ indexed property pages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40080" y="4160520"/>
            <a:ext cx="2743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platform activity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685800" y="4142232"/>
            <a:ext cx="502920" cy="320040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1645920" y="4258437"/>
            <a:ext cx="502920" cy="203835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1" name="Text 39"/>
          <p:cNvSpPr/>
          <p:nvPr/>
        </p:nvSpPr>
        <p:spPr>
          <a:xfrm>
            <a:off x="164592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2606040" y="4336542"/>
            <a:ext cx="502920" cy="125730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3" name="Text 41"/>
          <p:cNvSpPr/>
          <p:nvPr/>
        </p:nvSpPr>
        <p:spPr>
          <a:xfrm>
            <a:off x="260604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3566160" y="4389120"/>
            <a:ext cx="50292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5" name="Text 43"/>
          <p:cNvSpPr/>
          <p:nvPr/>
        </p:nvSpPr>
        <p:spPr>
          <a:xfrm>
            <a:off x="356616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4526280" y="4358450"/>
            <a:ext cx="502920" cy="103823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47" name="Text 45"/>
          <p:cNvSpPr/>
          <p:nvPr/>
        </p:nvSpPr>
        <p:spPr>
          <a:xfrm>
            <a:off x="4526280" y="4480560"/>
            <a:ext cx="5029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5760720" y="361188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08192B"/>
          </a:solidFill>
          <a:ln/>
        </p:spPr>
      </p:sp>
      <p:sp>
        <p:nvSpPr>
          <p:cNvPr id="49" name="Text 47"/>
          <p:cNvSpPr/>
          <p:nvPr/>
        </p:nvSpPr>
        <p:spPr>
          <a:xfrm>
            <a:off x="5897880" y="374904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live. Supply is being built. The next growth phase is distribution, repeat usage and monetization.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02920" y="4590288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analytics pulled from nyumbasearch.com · August 2026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TIMING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 is digitally connected while housing demand keeps rising.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Nairobi houses projected required by 2030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264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material market statistic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85.2%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0156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 penetration in Kenya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0156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2025 · reference material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8076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48.6M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9048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Mobile-money subscriptions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9048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2025 · reference material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02920" y="26974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NOW?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29260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 discover through mobile products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 remains frequent and locally fragmented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money enables digital transactions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remains a major issue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operations remain underserved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19995C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Nairobi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10528" y="30632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629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629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53528" y="30632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772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72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African urban markets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MARKET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sides of the ecosystem. One network effect.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 &amp; HOME SEEKERS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264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1264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· young professionals · families · relocators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264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264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Trustworthy listings · easy discovery · verification · convenience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 &amp; MANAGERS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0156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0156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Landlords · managers · agencies · developers · institutions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40156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0156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acquisition · portfolio visibility · rent &amp; tenant management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20" name="Text 18"/>
          <p:cNvSpPr/>
          <p:nvPr/>
        </p:nvSpPr>
        <p:spPr>
          <a:xfrm>
            <a:off x="619048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SERVICE PROVIDERS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19048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9048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9048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Qualified demand · customer acquisition · repeat business · visibility</a:t>
            </a:r>
            <a:endParaRPr lang="en-US" sz="800" dirty="0"/>
          </a:p>
        </p:txBody>
      </p:sp>
      <p:pic>
        <p:nvPicPr>
          <p:cNvPr id="25" name="Image 0" descr="/workspace/investor-deck/assets/flywhee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26080" y="4160520"/>
            <a:ext cx="3291840" cy="5029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monetization layers, with recurring revenue at the core.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141732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3990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Landlord &amp; listing plans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67335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999–4,999/month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89280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listings · visibility · lead mgmt · verification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73168" y="141732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13990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 SaaS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0" y="167335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2,000–10,000/month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0" y="189280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collection · leases · invoices · tenant records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74320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83464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28163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monetization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309067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1,500–5,000/month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8680" y="331012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 · premium placement · qualified leads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63440" y="274320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83464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28163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&amp; protection referrals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309067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Revenue-share model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331012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Mortgages · insurance · savings · rent-related products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pricing assumptions — subject to validation. Full-sector activation estimate: USD 2.5M – 4.5M+ annually. Current revenue: not disclosed.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POTENTIAL · ESTIMATE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revenue as all sectors activate.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353312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REVENUE POTENTIAL — not current revenue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72768"/>
          <a:ext cx="475488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5486400" y="1572768"/>
          <a:ext cx="320040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0" y="3794760"/>
            <a:ext cx="3200400" cy="502920"/>
          </a:xfrm>
          <a:prstGeom prst="roundRect">
            <a:avLst>
              <a:gd name="adj" fmla="val 14545"/>
            </a:avLst>
          </a:prstGeom>
          <a:solidFill>
            <a:srgbClr val="08192B"/>
          </a:solidFill>
          <a:ln/>
        </p:spPr>
      </p:sp>
      <p:sp>
        <p:nvSpPr>
          <p:cNvPr id="8" name="Text 4"/>
          <p:cNvSpPr/>
          <p:nvPr/>
        </p:nvSpPr>
        <p:spPr>
          <a:xfrm>
            <a:off x="5577840" y="384048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illustrative annual revenue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5577840" y="40050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4.8M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02920" y="443484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planning scenario based on assumptions; actual results may differ. Current revenue: not disclosed.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12" name="Text 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VS. POTENTIAL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early traction to a scaled housing network.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57600" cy="2743200"/>
          </a:xfrm>
          <a:prstGeom prst="roundRect">
            <a:avLst>
              <a:gd name="adj" fmla="val 3333"/>
            </a:avLst>
          </a:prstGeom>
          <a:solidFill>
            <a:srgbClr val="F4F7F5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TODAY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 · CURRENT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336+ verified homes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219+ neighbourhoods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 service providers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132+ users / tenants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 listing accounts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109+ lead actions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 · manager portal · services marketplace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51960" y="26060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E1F4E9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4447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HEADED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16642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year potential · TARGET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92040" y="1920240"/>
            <a:ext cx="3611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50,000+ verified homes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250,000+ active users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5,000+ property owners/managers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service providers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4.8M illustrative annual revenue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expansion across Africa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TRACTION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92608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80060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7492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EFFECT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94944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LEADERSHIP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compete with discovery channels — but our ambition is broader.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868680"/>
                <a:gridCol w="777240"/>
                <a:gridCol w="1051560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Lamudi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Jiji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 / WhatsApp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NyumbaSearch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 discovery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listings / owners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Productized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 risk signals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Built-in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tenancy tools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In-platform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Rent collection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Productized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 management SaaS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In-platform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services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hoc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214+ live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Financial integration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Referral paths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All-in-one ecosystem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Listing-led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Listing-led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Classifieds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alternatives help users FIND a property. NyumbaSearch aims to help users FIND, VERIFY, MANAGE and SERVE the entire home journey.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STRATEGY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is the next growth engine.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residences &amp; universities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Exclusive student inventory · acquisition · verified discovery · digital tenancy workflows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984248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/ strategic target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63440" y="1389888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63040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8348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 &amp; financial institutions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83480" y="1664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payments · savings · insurance · mortgages · customer acquisition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983480" y="1984248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/ strategic target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502920" y="2286000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59152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234086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 &amp; managers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2560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onboarding · lead generation · PM SaaS · rent collection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22960" y="28803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supply channel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359152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83480" y="234086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&amp; housing partners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2560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housing · relocation · institutional accommodation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983480" y="28803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opportunity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468880" y="3182112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0" y="325526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88920" y="323697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88920" y="345643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88920" y="3776472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 live today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502920" y="4224528"/>
            <a:ext cx="8138160" cy="292608"/>
          </a:xfrm>
          <a:prstGeom prst="roundRect">
            <a:avLst>
              <a:gd name="adj" fmla="val 18750"/>
            </a:avLst>
          </a:prstGeom>
          <a:solidFill>
            <a:srgbClr val="08192B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4261104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 → Supply → Users → Transactions → Data &amp; trust → More partners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1.5M Pre-Series 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to convert early product traction into repeatable distribution, stronger infrastructure and regional scale.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1,500,000</a:t>
            </a:r>
            <a:endParaRPr lang="en-US" sz="3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892040" y="1298448"/>
          <a:ext cx="374904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24231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development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108960" y="24231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611880" y="242316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450,000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02920" y="275234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talent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108960" y="27523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11880" y="275234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300,000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02920" y="308152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&amp; growth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108960" y="3081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611880" y="308152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300,000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02920" y="341071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&amp; support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08960" y="34107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611880" y="341071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225,000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02920" y="3739896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&amp; integrations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108960" y="373989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611880" y="373989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150,000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02920" y="4069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compliance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108960" y="406908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11880" y="40690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75,000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network, then compound the network.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E1F4E9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Deepen product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payments · verification · leads · service network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49631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distribution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residences · banks · property groups · corporate housing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64515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0060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transactions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collection · services · subscriptions · financial referrals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9399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4944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2029–30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4088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scale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088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African urban markets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4160520"/>
            <a:ext cx="8138160" cy="320040"/>
          </a:xfrm>
          <a:prstGeom prst="roundRect">
            <a:avLst>
              <a:gd name="adj" fmla="val 17143"/>
            </a:avLst>
          </a:prstGeom>
          <a:solidFill>
            <a:srgbClr val="081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20624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→ Partnerships → Transactions → Recurring revenue → Regional scale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D1F0F"/>
          </a:solidFill>
          <a:ln/>
        </p:spPr>
      </p:sp>
      <p:pic>
        <p:nvPicPr>
          <p:cNvPr id="3" name="Image 0" descr="/workspace/investor-deck/assets/closing-living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434840" y="0"/>
            <a:ext cx="470916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3D1F0F">
              <a:alpha val="9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4206240" y="0"/>
            <a:ext cx="1463040" cy="5143500"/>
          </a:xfrm>
          <a:prstGeom prst="rect">
            <a:avLst/>
          </a:prstGeom>
          <a:solidFill>
            <a:srgbClr val="3D1F0F">
              <a:alpha val="5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9601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594360" y="166420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DD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housing infrastructure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8DD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 deserves.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94360" y="2395728"/>
            <a:ext cx="329184" cy="329184"/>
          </a:xfrm>
          <a:prstGeom prst="ellipse">
            <a:avLst/>
          </a:prstGeom>
          <a:solidFill>
            <a:srgbClr val="3D1F0F">
              <a:alpha val="65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2423160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1051560" y="24231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nyumbasearch.com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2889504"/>
            <a:ext cx="329184" cy="329184"/>
          </a:xfrm>
          <a:prstGeom prst="ellipse">
            <a:avLst/>
          </a:prstGeom>
          <a:solidFill>
            <a:srgbClr val="3D1F0F">
              <a:alpha val="65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91693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51560" y="291693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nyumbasearch101@gmail.com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4360" y="3383280"/>
            <a:ext cx="329184" cy="329184"/>
          </a:xfrm>
          <a:prstGeom prst="ellipse">
            <a:avLst/>
          </a:prstGeom>
          <a:solidFill>
            <a:srgbClr val="3D1F0F">
              <a:alpha val="65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3410712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051560" y="341071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+254714725598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4360" y="3877056"/>
            <a:ext cx="329184" cy="329184"/>
          </a:xfrm>
          <a:prstGeom prst="ellipse">
            <a:avLst/>
          </a:prstGeom>
          <a:solidFill>
            <a:srgbClr val="3D1F0F">
              <a:alpha val="65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4360" y="3904488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51560" y="3904488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Nairobi, Kenya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NyumbaSearch Investor Deck — August 2026</dc:title>
  <dc:subject>Pre-Series A Investor Presentation</dc:subject>
  <dc:creator>NyumbaSearch</dc:creator>
  <cp:lastModifiedBy>NyumbaSearch</cp:lastModifiedBy>
  <cp:revision>1</cp:revision>
  <dcterms:created xsi:type="dcterms:W3CDTF">2026-08-30T03:55:07Z</dcterms:created>
  <dcterms:modified xsi:type="dcterms:W3CDTF">2026-08-30T03:55:07Z</dcterms:modified>
</cp:coreProperties>
</file>