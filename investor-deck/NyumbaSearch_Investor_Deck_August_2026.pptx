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M)</c:v>
                </c:pt>
              </c:strCache>
            </c:strRef>
          </c:tx>
          <c:spPr>
            <a:solidFill>
              <a:srgbClr val="199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</c:v>
                </c:pt>
                <c:pt idx="1">
                  <c:v>0.9</c:v>
                </c:pt>
                <c:pt idx="2">
                  <c:v>1.9</c:v>
                </c:pt>
                <c:pt idx="3">
                  <c:v>3.2</c:v>
                </c:pt>
                <c:pt idx="4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Year 5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192B"/>
              </a:solidFill>
              <a:effectLst/>
            </c:spPr>
          </c:dPt>
          <c:dPt>
            <c:idx val="1"/>
            <c:bubble3D val="0"/>
            <c:spPr>
              <a:solidFill>
                <a:srgbClr val="19995C"/>
              </a:solidFill>
              <a:effectLst/>
            </c:spPr>
          </c:dPt>
          <c:dPt>
            <c:idx val="2"/>
            <c:bubble3D val="0"/>
            <c:spPr>
              <a:solidFill>
                <a:srgbClr val="3AB570"/>
              </a:solidFill>
              <a:effectLst/>
            </c:spPr>
          </c:dPt>
          <c:dPt>
            <c:idx val="3"/>
            <c:bubble3D val="0"/>
            <c:spPr>
              <a:solidFill>
                <a:srgbClr val="E0AA3E"/>
              </a:solidFill>
              <a:effectLst/>
            </c:spPr>
          </c:dPt>
          <c:dPt>
            <c:idx val="4"/>
            <c:bubble3D val="0"/>
            <c:spPr>
              <a:solidFill>
                <a:srgbClr val="5B6C7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Property mgmt SaaS</c:v>
                </c:pt>
                <c:pt idx="1">
                  <c:v>Landlord &amp; listing</c:v>
                </c:pt>
                <c:pt idx="2">
                  <c:v>Service providers</c:v>
                </c:pt>
                <c:pt idx="3">
                  <c:v>Financial / referrals</c:v>
                </c:pt>
                <c:pt idx="4">
                  <c:v>Data / ads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9995C"/>
              </a:solidFill>
              <a:effectLst/>
            </c:spPr>
          </c:dPt>
          <c:dPt>
            <c:idx val="1"/>
            <c:bubble3D val="0"/>
            <c:spPr>
              <a:solidFill>
                <a:srgbClr val="3AB570"/>
              </a:solidFill>
              <a:effectLst/>
            </c:spPr>
          </c:dPt>
          <c:dPt>
            <c:idx val="2"/>
            <c:bubble3D val="0"/>
            <c:spPr>
              <a:solidFill>
                <a:srgbClr val="E0AA3E"/>
              </a:solidFill>
              <a:effectLst/>
            </c:spPr>
          </c:dPt>
          <c:dPt>
            <c:idx val="3"/>
            <c:bubble3D val="0"/>
            <c:spPr>
              <a:solidFill>
                <a:srgbClr val="0F2A44"/>
              </a:solidFill>
              <a:effectLst/>
            </c:spPr>
          </c:dPt>
          <c:dPt>
            <c:idx val="4"/>
            <c:bubble3D val="0"/>
            <c:spPr>
              <a:solidFill>
                <a:srgbClr val="91D64D"/>
              </a:solidFill>
              <a:effectLst/>
            </c:spPr>
          </c:dPt>
          <c:dPt>
            <c:idx val="5"/>
            <c:bubble3D val="0"/>
            <c:spPr>
              <a:solidFill>
                <a:srgbClr val="5B6C7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Product development</c:v>
                </c:pt>
                <c:pt idx="1">
                  <c:v>Team &amp; talent</c:v>
                </c:pt>
                <c:pt idx="2">
                  <c:v>Marketing &amp; growth</c:v>
                </c:pt>
                <c:pt idx="3">
                  <c:v>Operations &amp; support</c:v>
                </c:pt>
                <c:pt idx="4">
                  <c:v>Partnerships &amp; integrations</c:v>
                </c:pt>
                <c:pt idx="5">
                  <c:v>Legal &amp; compliance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investor-deck/assets/cover-sky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0" y="320040"/>
            <a:ext cx="457200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8192B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005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572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trusted operating layer for home discovery, tenancy and home services in Africa.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78892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1F4E9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PROPTECH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371600" y="278892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1F4E9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148840" y="278892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1F4E9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SERVICES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02920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nyumbasearch.com  ·  August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The complete home journey.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connects people to homes while helping property businesses acquire tenants, manage properties and access trusted home services.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E1F4E9"/>
          </a:solidFill>
          <a:ln w="6350">
            <a:solidFill>
              <a:srgbClr val="C5E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856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· location · budget · property type · neighbourhood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E1F4E9"/>
          </a:solidFill>
          <a:ln w="6350">
            <a:solidFill>
              <a:srgbClr val="C5E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511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715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Owner/listing verification · property validation · reviews · risk signals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E1F4E9"/>
          </a:solidFill>
          <a:ln w="6350">
            <a:solidFill>
              <a:srgbClr val="C5E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9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172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3741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portal · rent tracking · payments · leases · invoices · maintenance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3758184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E1F4E9"/>
          </a:solidFill>
          <a:ln w="6350">
            <a:solidFill>
              <a:srgbClr val="C5E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67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83133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4032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Movers · cleaners · repairs · security · solar · interior services</a:t>
            </a:r>
            <a:endParaRPr lang="en-US" sz="800" dirty="0"/>
          </a:p>
        </p:txBody>
      </p:sp>
      <p:pic>
        <p:nvPicPr>
          <p:cNvPr id="21" name="Image 0" descr="/workspace/investor-deck/assets/ecosystem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691640"/>
            <a:ext cx="3154680" cy="2331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86400" y="4160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discovery to move-in and beyond.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discovery is fragmented. Trust is expensive.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08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is fragmented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0136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· social media · classifieds · WhatsApp · property sites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is inconsistent across channels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508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4904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expensive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80136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· transport · effort visiting unavailable listings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Inaccurate or poorly represented properties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9260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ends too early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21868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platforms stop at the listing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Tenancy · rent · management · services not connected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9260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lack modern tools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1868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management · tenant records · rent tracking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workflows · portfolio visibility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4251960"/>
            <a:ext cx="8138160" cy="320040"/>
          </a:xfrm>
          <a:prstGeom prst="roundRect">
            <a:avLst>
              <a:gd name="adj" fmla="val 17143"/>
            </a:avLst>
          </a:prstGeom>
          <a:solidFill>
            <a:srgbClr val="081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976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user relationship before, during and after the move.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trusted operating layer for the entire home journey.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1F4E9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Map-first discovery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 + budget + type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68880" y="178308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1F4E9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Owner/listing verification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signals · reviews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1F4E9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tracking · leases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· tenant management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9995C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home services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· cleaning · repairs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5146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relationship. Multiple high-value touchpoints.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880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5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9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right home.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2880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5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99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OWNERS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and manage tenants.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2880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7F5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999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PROVIDERS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verified demand.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product. Multiple high-value touchpoints.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08192B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" y="1380744"/>
            <a:ext cx="1463040" cy="2148840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/>
        </p:spPr>
      </p:sp>
      <p:pic>
        <p:nvPicPr>
          <p:cNvPr id="6" name="Image 0" descr="/workspace/docs/investor-package/assets/crops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80744"/>
            <a:ext cx="146304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69417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discovery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2130552" y="132588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08192B"/>
          </a:solidFill>
          <a:ln/>
        </p:spPr>
      </p:sp>
      <p:sp>
        <p:nvSpPr>
          <p:cNvPr id="9" name="Shape 6"/>
          <p:cNvSpPr/>
          <p:nvPr/>
        </p:nvSpPr>
        <p:spPr>
          <a:xfrm>
            <a:off x="2185416" y="1380744"/>
            <a:ext cx="1463040" cy="2148840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/>
        </p:spPr>
      </p:sp>
      <p:pic>
        <p:nvPicPr>
          <p:cNvPr id="10" name="Image 1" descr="/workspace/docs/investor-package/assets/crops/propert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1380744"/>
            <a:ext cx="1463040" cy="2148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30552" y="369417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listing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849624" y="132588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08192B"/>
          </a:solidFill>
          <a:ln/>
        </p:spPr>
      </p:sp>
      <p:sp>
        <p:nvSpPr>
          <p:cNvPr id="13" name="Shape 9"/>
          <p:cNvSpPr/>
          <p:nvPr/>
        </p:nvSpPr>
        <p:spPr>
          <a:xfrm>
            <a:off x="3904488" y="1380744"/>
            <a:ext cx="1463040" cy="2148840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/>
        </p:spPr>
      </p:sp>
      <p:pic>
        <p:nvPicPr>
          <p:cNvPr id="14" name="Image 2" descr="/workspace/docs/investor-package/assets/crops/landlor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1380744"/>
            <a:ext cx="1463040" cy="21488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9624" y="369417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5568696" y="132588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08192B"/>
          </a:solidFill>
          <a:ln/>
        </p:spPr>
      </p:sp>
      <p:sp>
        <p:nvSpPr>
          <p:cNvPr id="17" name="Shape 12"/>
          <p:cNvSpPr/>
          <p:nvPr/>
        </p:nvSpPr>
        <p:spPr>
          <a:xfrm>
            <a:off x="5623560" y="1380744"/>
            <a:ext cx="1463040" cy="2148840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/>
        </p:spPr>
      </p:sp>
      <p:pic>
        <p:nvPicPr>
          <p:cNvPr id="18" name="Image 3" descr="/workspace/docs/investor-package/assets/crops/mobil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80744"/>
            <a:ext cx="1463040" cy="21488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68696" y="369417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&amp; payments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7287768" y="132588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08192B"/>
          </a:solidFill>
          <a:ln/>
        </p:spPr>
      </p:sp>
      <p:sp>
        <p:nvSpPr>
          <p:cNvPr id="21" name="Shape 15"/>
          <p:cNvSpPr/>
          <p:nvPr/>
        </p:nvSpPr>
        <p:spPr>
          <a:xfrm>
            <a:off x="7342632" y="1380744"/>
            <a:ext cx="1463040" cy="2148840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/>
        </p:spPr>
      </p:sp>
      <p:pic>
        <p:nvPicPr>
          <p:cNvPr id="22" name="Image 4" descr="/workspace/docs/investor-package/assets/crops/service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380744"/>
            <a:ext cx="1463040" cy="21488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87768" y="369417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services</a:t>
            </a:r>
            <a:endParaRPr lang="en-US" sz="700" dirty="0"/>
          </a:p>
        </p:txBody>
      </p:sp>
      <p:sp>
        <p:nvSpPr>
          <p:cNvPr id="24" name="Text 17"/>
          <p:cNvSpPr/>
          <p:nvPr/>
        </p:nvSpPr>
        <p:spPr>
          <a:xfrm>
            <a:off x="502920" y="397764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→ verification → tenancy → services.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02920" y="425196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from live nyumbasearch.com product surfaces · August 2026</a:t>
            </a:r>
            <a:endParaRPr lang="en-US" sz="700" dirty="0"/>
          </a:p>
        </p:txBody>
      </p:sp>
      <p:sp>
        <p:nvSpPr>
          <p:cNvPr id="26" name="Text 19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CURRENT ANALYTICS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product-market signal — with a live platform.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0817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336+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773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E1F4E9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80744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0817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773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NEIGHBOUR-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83480" y="1371600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E1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80744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6080760" y="129844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0817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1773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0" y="1371600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E1F4E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380744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02920" y="2505456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151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29809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94560" y="2578608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/>
        </p:spPr>
      </p:sp>
      <p:sp>
        <p:nvSpPr>
          <p:cNvPr id="23" name="Text 21"/>
          <p:cNvSpPr/>
          <p:nvPr/>
        </p:nvSpPr>
        <p:spPr>
          <a:xfrm>
            <a:off x="2194560" y="2587752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0A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3291840" y="2505456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6151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91840" y="29809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83480" y="2578608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587752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0A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6080760" y="2505456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26151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109+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080760" y="29809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72400" y="2578608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587752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0A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502920" y="361188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AFCFA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5760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platform snapshot (nyumbasearch.com)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" y="3840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homes in tenant browse  ·  24+ service categories with providers  ·  336+ indexed property pages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" y="416052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platform activity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85800" y="4142232"/>
            <a:ext cx="502920" cy="320040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480560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645920" y="4258437"/>
            <a:ext cx="502920" cy="203835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41" name="Text 39"/>
          <p:cNvSpPr/>
          <p:nvPr/>
        </p:nvSpPr>
        <p:spPr>
          <a:xfrm>
            <a:off x="1645920" y="4480560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606040" y="4336542"/>
            <a:ext cx="502920" cy="125730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43" name="Text 41"/>
          <p:cNvSpPr/>
          <p:nvPr/>
        </p:nvSpPr>
        <p:spPr>
          <a:xfrm>
            <a:off x="2606040" y="4480560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566160" y="4389120"/>
            <a:ext cx="502920" cy="73152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45" name="Text 43"/>
          <p:cNvSpPr/>
          <p:nvPr/>
        </p:nvSpPr>
        <p:spPr>
          <a:xfrm>
            <a:off x="3566160" y="4480560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526280" y="4358450"/>
            <a:ext cx="502920" cy="103823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4480560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5760720" y="361188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08192B"/>
          </a:solidFill>
          <a:ln/>
        </p:spPr>
      </p:sp>
      <p:sp>
        <p:nvSpPr>
          <p:cNvPr id="49" name="Text 47"/>
          <p:cNvSpPr/>
          <p:nvPr/>
        </p:nvSpPr>
        <p:spPr>
          <a:xfrm>
            <a:off x="5897880" y="37490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live. Supply is being built. The next growth phase is distribution, repeat usage and monetization.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4590288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analytics pulled from nyumbasearch.com · August 2026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TIMING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is digitally connected while housing demand keeps rising.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1F4E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 houses projected required by 2030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2648" y="2240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material market statistic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1F4E9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447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01568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penetration in Kenya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01568" y="2240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 · reference material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1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14447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90488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Mobile-money subscriptions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0488" y="2240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 · reference material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2697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discover through mobile products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remains frequent and locally fragmented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enables digital transactions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remains a major issue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operations remain underserved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7432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9995C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8346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8640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10528" y="30632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9400" y="27432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4F7F5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8346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62940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653528" y="30632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0" y="27432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4F7F5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8346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7240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African urban markets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sides of the ecosystem. One network effect.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AFCFA"/>
          </a:solidFill>
          <a:ln w="12700">
            <a:solidFill>
              <a:srgbClr val="3AB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606040" cy="73152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TENANTS &amp; HOME SEEKERS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2648" y="1965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12648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· young professionals · families · relocators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2648" y="26974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2648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listings · easy discovery · verification · convenience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AFCFA"/>
          </a:solidFill>
          <a:ln w="12700">
            <a:solidFill>
              <a:srgbClr val="3AB5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06040" cy="73152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OWNERS &amp; MANAGERS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965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01568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Landlords · managers · agencies · developers · institutions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01568" y="26974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01568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acquisition · portfolio visibility · rent &amp; tenant management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AFCFA"/>
          </a:solidFill>
          <a:ln w="12700">
            <a:solidFill>
              <a:srgbClr val="3AB5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325880"/>
            <a:ext cx="2606040" cy="73152"/>
          </a:xfrm>
          <a:prstGeom prst="rect">
            <a:avLst/>
          </a:prstGeom>
          <a:solidFill>
            <a:srgbClr val="199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0488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SERVICE PROVIDERS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1965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190488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Movers · cleaners · repairs · security · solar · interior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90488" y="26974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90488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demand · customer acquisition · repeat business · visibility</a:t>
            </a:r>
            <a:endParaRPr lang="en-US" sz="800" dirty="0"/>
          </a:p>
        </p:txBody>
      </p:sp>
      <p:pic>
        <p:nvPicPr>
          <p:cNvPr id="25" name="Image 0" descr="/workspace/investor-deck/assets/flywhee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6080" y="4160520"/>
            <a:ext cx="329184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monetization layers, with recurring revenue at the core.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17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399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Landlord &amp; listing plans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733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KSh 999–4,999/month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928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listings · visibility · lead mgmt · verification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417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399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 SaaS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6733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KSh 2,000–10,000/month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8928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collection · leases · invoices · tenant records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834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163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provider monetization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KSh 1,500–5,000/month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3101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· premium placement · qualified leads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AFCFA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834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8163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protection referrals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0906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Revenue-share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33101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Mortgages · insurance · savings · rent-related products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pricing assumptions — subject to validation. Full-sector activation estimate: USD 2.5M – 4.5M+ annually. Current revenue: not disclosed.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POTENTIAL · ESTIMATE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revenue as all sectors activate.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A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REVENUE POTENTIAL — not current revenue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72768"/>
          <a:ext cx="47548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486400" y="1572768"/>
          <a:ext cx="3200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0" y="37947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08192B"/>
          </a:solidFill>
          <a:ln/>
        </p:spPr>
      </p:sp>
      <p:sp>
        <p:nvSpPr>
          <p:cNvPr id="8" name="Text 4"/>
          <p:cNvSpPr/>
          <p:nvPr/>
        </p:nvSpPr>
        <p:spPr>
          <a:xfrm>
            <a:off x="5577840" y="38404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illustrative annual revenue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577840" y="4005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4.8M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44348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scenario based on assumptions; actual results may differ. Current revenue: not disclosed.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VS. POTENTIAL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early traction to a scaled housing network.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4F7F5"/>
          </a:solidFill>
          <a:ln w="9525">
            <a:solidFill>
              <a:srgbClr val="D8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447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· CURRENT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336+ verified homes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219+ neighbourhoods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214+ service providers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132+ users / tenants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 listing accounts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109+ lead actions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 · manager portal · services marketplace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51960" y="2606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E1F4E9"/>
          </a:solidFill>
          <a:ln w="12700">
            <a:solidFill>
              <a:srgbClr val="3AB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HEADED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year potential · TARGET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50,000+ verified homes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250,000+ active users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property owners/managers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service providers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4.8M illustrative annual revenue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 across Africa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4279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429768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4279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00600" y="429768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4279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49440" y="429768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4279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LEADERSHIP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compete with discovery channels — but our ambition is broader.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868680"/>
                <a:gridCol w="868680"/>
                <a:gridCol w="777240"/>
                <a:gridCol w="1051560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Property24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Lamudi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Jiji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/ WhatsApp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NyumbaSearch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 discovery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listings / owners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Productized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risk signals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tenancy tools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In-platform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Rent collection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Productized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management SaaS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In-platform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services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hoc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214+ live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integration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Referral paths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All-in-one ecosystem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Listing-led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Listing-led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Classifieds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2B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alternatives help users FIND a property. NyumbaSearch aims to help users FIND, VERIFY, MANAGE and SERVE the entire home journey.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is the next growth engine.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AFCFA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447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residences &amp; universities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student inventory · acquisition · verified discovery · digital tenancy workflows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strategic target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AFCFA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4630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&amp; financial institutions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83480" y="1664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payments · savings · insurance · mortgages · customer acquisition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83480" y="198424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strategic target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AFCFA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59152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3408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owners &amp; managers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560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onboarding · lead generation · PM SaaS · rent collection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22960" y="28803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supply channel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AFCFA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59152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23408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&amp; housing partners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2560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housing · relocation · institutional accommodation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opportunity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468880" y="3182112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AFCFA"/>
          </a:solidFill>
          <a:ln w="6350">
            <a:solidFill>
              <a:srgbClr val="D8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25526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88920" y="32369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providers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88920" y="3456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Movers · cleaners · repairs · security · solar · interior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88920" y="37764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214+ live today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02920" y="4224528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8192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26110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→ Supply → Users → Transactions → Data &amp; trust → More partners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1.5M Pre-Series 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to convert early product traction into repeatable distribution, stronger infrastructure and regional scale.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1,500,000</a:t>
            </a:r>
            <a:endParaRPr lang="en-US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892040" y="1298448"/>
          <a:ext cx="37490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2423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108960" y="24231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11880" y="2423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450,000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27523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talent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108960" y="275234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11880" y="27523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300,000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2920" y="3081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08960" y="3081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11880" y="30815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300,000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34107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support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108960" y="341071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11880" y="34107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225,000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2920" y="3739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&amp; integrations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108960" y="37398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11880" y="37398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150,000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02920" y="4069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108960" y="40690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11880" y="4069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75,000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network, then compound the network.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1F4E9"/>
          </a:solidFill>
          <a:ln w="9525">
            <a:solidFill>
              <a:srgbClr val="3AB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813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product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· payments · verification · leads · service network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96312" y="23774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FAFCFA"/>
          </a:solidFill>
          <a:ln w="9525">
            <a:solidFill>
              <a:srgbClr val="3AB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4813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distribution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1488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residences · banks · property groups · corporate housing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5152" y="23774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FAFCFA"/>
          </a:solidFill>
          <a:ln w="9525">
            <a:solidFill>
              <a:srgbClr val="3AB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813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transactions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collection · services · subscriptions · financial referrals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93992" y="23774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49440" y="13716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FAFCFA"/>
          </a:solidFill>
          <a:ln w="9525">
            <a:solidFill>
              <a:srgbClr val="3AB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4813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2029–30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1783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21488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African urban markets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4160520"/>
            <a:ext cx="8138160" cy="320040"/>
          </a:xfrm>
          <a:prstGeom prst="roundRect">
            <a:avLst>
              <a:gd name="adj" fmla="val 17143"/>
            </a:avLst>
          </a:prstGeom>
          <a:solidFill>
            <a:srgbClr val="081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2062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→ Partnerships → Transactions → Recurring revenue → Regional scale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9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home infrastructure layer.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is building more than a property marketplace.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a trusted ecosystem connecting people, properties, payments and home services.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2A44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214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right home.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2A44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1214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with confidence.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2A44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214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the tenancy.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49440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2A44"/>
          </a:solidFill>
          <a:ln w="6350">
            <a:solidFill>
              <a:srgbClr val="3AB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1214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1D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trusted services.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108960"/>
            <a:ext cx="8138160" cy="411480"/>
          </a:xfrm>
          <a:prstGeom prst="roundRect">
            <a:avLst>
              <a:gd name="adj" fmla="val 17778"/>
            </a:avLst>
          </a:prstGeom>
          <a:solidFill>
            <a:srgbClr val="199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8211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us. Invest in the infrastructure of Africa's housing journey.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 ·  nyumbasearch.com  ·  August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stress. Better homes. Stronger communities.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508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 • INVESTOR DECK • AUGUST 2026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321040" y="48508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NyumbaSearch Investor Deck — August 2026</dc:title>
  <dc:subject>Pre-Series A Investor Presentation</dc:subject>
  <dc:creator>NyumbaSearch</dc:creator>
  <cp:lastModifiedBy>NyumbaSearch</cp:lastModifiedBy>
  <cp:revision>1</cp:revision>
  <dcterms:created xsi:type="dcterms:W3CDTF">2026-08-30T00:39:02Z</dcterms:created>
  <dcterms:modified xsi:type="dcterms:W3CDTF">2026-08-30T00:39:02Z</dcterms:modified>
</cp:coreProperties>
</file>